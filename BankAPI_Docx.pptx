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4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99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46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22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521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319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31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4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1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568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51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1096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011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9958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32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631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39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9790A-B82D-4DE4-9D5D-E83DD6387BD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7717340-B7AE-4D5B-AF24-F6B7F3F2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08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8DA0-182C-4439-B797-86B682DBC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964" y="280678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Internal API For A Fake Financial Institution Using Python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581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794B1B3-ADAC-4104-A722-96179474A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126552"/>
              </p:ext>
            </p:extLst>
          </p:nvPr>
        </p:nvGraphicFramePr>
        <p:xfrm>
          <a:off x="2686517" y="2009451"/>
          <a:ext cx="5908843" cy="22199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908843">
                  <a:extLst>
                    <a:ext uri="{9D8B030D-6E8A-4147-A177-3AD203B41FA5}">
                      <a16:colId xmlns:a16="http://schemas.microsoft.com/office/drawing/2014/main" val="395657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409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dirty="0"/>
                        <a:t>Tech-Stack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552216"/>
                  </a:ext>
                </a:extLst>
              </a:tr>
              <a:tr h="300077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IN" dirty="0"/>
                        <a:t>2. Core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628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3.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07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 Project Setup &amp; Installation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294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 Production Hardening Checklist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593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08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857881-24C9-4C61-9AC3-5E912D61AB09}"/>
              </a:ext>
            </a:extLst>
          </p:cNvPr>
          <p:cNvSpPr/>
          <p:nvPr/>
        </p:nvSpPr>
        <p:spPr>
          <a:xfrm>
            <a:off x="4697129" y="1003846"/>
            <a:ext cx="2348564" cy="41106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TECH-STACK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4B0B46-C195-4638-9652-499651748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36127"/>
              </p:ext>
            </p:extLst>
          </p:nvPr>
        </p:nvGraphicFramePr>
        <p:xfrm>
          <a:off x="1689635" y="1645920"/>
          <a:ext cx="7632032" cy="35661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96833">
                  <a:extLst>
                    <a:ext uri="{9D8B030D-6E8A-4147-A177-3AD203B41FA5}">
                      <a16:colId xmlns:a16="http://schemas.microsoft.com/office/drawing/2014/main" val="3985197955"/>
                    </a:ext>
                  </a:extLst>
                </a:gridCol>
                <a:gridCol w="5135199">
                  <a:extLst>
                    <a:ext uri="{9D8B030D-6E8A-4147-A177-3AD203B41FA5}">
                      <a16:colId xmlns:a16="http://schemas.microsoft.com/office/drawing/2014/main" val="3085561785"/>
                    </a:ext>
                  </a:extLst>
                </a:gridCol>
              </a:tblGrid>
              <a:tr h="356891"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051674"/>
                  </a:ext>
                </a:extLst>
              </a:tr>
              <a:tr h="3568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Python 3.x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378991"/>
                  </a:ext>
                </a:extLst>
              </a:tr>
              <a:tr h="3568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FastAPI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822711"/>
                  </a:ext>
                </a:extLst>
              </a:tr>
              <a:tr h="3568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SQLite (dev) → PostgreSQL recommended for prod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864268"/>
                  </a:ext>
                </a:extLst>
              </a:tr>
              <a:tr h="3568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SQLAlchemy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183549"/>
                  </a:ext>
                </a:extLst>
              </a:tr>
              <a:tr h="3568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Pydantic v2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075902"/>
                  </a:ext>
                </a:extLst>
              </a:tr>
              <a:tr h="3568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JWT (PyJWT)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519635"/>
                  </a:ext>
                </a:extLst>
              </a:tr>
              <a:tr h="356891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Pytest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1688961"/>
                  </a:ext>
                </a:extLst>
              </a:tr>
              <a:tr h="35689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Docs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Built-in Swagger + </a:t>
                      </a:r>
                      <a:r>
                        <a:rPr lang="en-IN" dirty="0" err="1"/>
                        <a:t>ReDoc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967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84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942847-DD51-455B-A00D-9D9243E6D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64747"/>
              </p:ext>
            </p:extLst>
          </p:nvPr>
        </p:nvGraphicFramePr>
        <p:xfrm>
          <a:off x="837799" y="1783080"/>
          <a:ext cx="9037320" cy="32918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03233">
                  <a:extLst>
                    <a:ext uri="{9D8B030D-6E8A-4147-A177-3AD203B41FA5}">
                      <a16:colId xmlns:a16="http://schemas.microsoft.com/office/drawing/2014/main" val="852497697"/>
                    </a:ext>
                  </a:extLst>
                </a:gridCol>
                <a:gridCol w="3234087">
                  <a:extLst>
                    <a:ext uri="{9D8B030D-6E8A-4147-A177-3AD203B41FA5}">
                      <a16:colId xmlns:a16="http://schemas.microsoft.com/office/drawing/2014/main" val="2809939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928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Create customers &amp; authenticate using phone + PIN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70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Create bank accounts with initial deposit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085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Multiple accounts per 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68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Transfer funds between any two accounts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9181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Retrieve account 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050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Retrieve account transfer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418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Automated test suite (pytest) — all tests passing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✔ (25/25)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234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Seed initial customers on startup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55843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21B5AA2-D494-40F2-9152-5C7AABE3B3BF}"/>
              </a:ext>
            </a:extLst>
          </p:cNvPr>
          <p:cNvSpPr/>
          <p:nvPr/>
        </p:nvSpPr>
        <p:spPr>
          <a:xfrm>
            <a:off x="3850106" y="837398"/>
            <a:ext cx="4090737" cy="58714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Core Features Implemented</a:t>
            </a:r>
          </a:p>
        </p:txBody>
      </p:sp>
    </p:spTree>
    <p:extLst>
      <p:ext uri="{BB962C8B-B14F-4D97-AF65-F5344CB8AC3E}">
        <p14:creationId xmlns:p14="http://schemas.microsoft.com/office/powerpoint/2010/main" val="3329727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2898A5-48C0-4991-87C7-4DDB17E2754D}"/>
              </a:ext>
            </a:extLst>
          </p:cNvPr>
          <p:cNvSpPr/>
          <p:nvPr/>
        </p:nvSpPr>
        <p:spPr>
          <a:xfrm>
            <a:off x="1692442" y="1127762"/>
            <a:ext cx="2935706" cy="885524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b="1" dirty="0">
                <a:solidFill>
                  <a:schemeClr val="tx1"/>
                </a:solidFill>
              </a:rPr>
              <a:t>Client</a:t>
            </a:r>
            <a:r>
              <a:rPr lang="en-IN" b="1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600586-A1A9-4CEC-AB2C-BCA2110018A7}"/>
              </a:ext>
            </a:extLst>
          </p:cNvPr>
          <p:cNvSpPr/>
          <p:nvPr/>
        </p:nvSpPr>
        <p:spPr>
          <a:xfrm>
            <a:off x="6280886" y="1028300"/>
            <a:ext cx="2935706" cy="630458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tx1"/>
                </a:solidFill>
              </a:rPr>
              <a:t>FastAPI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B91F09-1E7E-481F-B16A-BA085E1B33D3}"/>
              </a:ext>
            </a:extLst>
          </p:cNvPr>
          <p:cNvSpPr/>
          <p:nvPr/>
        </p:nvSpPr>
        <p:spPr>
          <a:xfrm>
            <a:off x="6280886" y="2356586"/>
            <a:ext cx="2935706" cy="582325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b="1" dirty="0">
                <a:solidFill>
                  <a:schemeClr val="tx1"/>
                </a:solidFill>
              </a:rPr>
              <a:t>Business</a:t>
            </a:r>
            <a:r>
              <a:rPr lang="en-IN" b="1" dirty="0"/>
              <a:t> </a:t>
            </a:r>
            <a:r>
              <a:rPr lang="en-IN" b="1" dirty="0">
                <a:solidFill>
                  <a:schemeClr val="tx1"/>
                </a:solidFill>
              </a:rPr>
              <a:t>Logic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9FE8A8-4771-425F-9B06-A2900E44F609}"/>
              </a:ext>
            </a:extLst>
          </p:cNvPr>
          <p:cNvSpPr/>
          <p:nvPr/>
        </p:nvSpPr>
        <p:spPr>
          <a:xfrm>
            <a:off x="6274871" y="3755448"/>
            <a:ext cx="2935706" cy="535804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tx1"/>
                </a:solidFill>
              </a:rPr>
              <a:t>SQLAlchemy</a:t>
            </a:r>
            <a:r>
              <a:rPr lang="en-IN" b="1" dirty="0"/>
              <a:t> </a:t>
            </a:r>
            <a:r>
              <a:rPr lang="en-IN" b="1" dirty="0">
                <a:solidFill>
                  <a:schemeClr val="tx1"/>
                </a:solidFill>
              </a:rPr>
              <a:t>ORM</a:t>
            </a:r>
            <a:r>
              <a:rPr lang="en-IN" b="1" dirty="0"/>
              <a:t> </a:t>
            </a:r>
            <a:r>
              <a:rPr lang="en-IN" b="1" dirty="0">
                <a:solidFill>
                  <a:schemeClr val="tx1"/>
                </a:solidFill>
              </a:rPr>
              <a:t>Models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898654-F1A8-4D4F-9C97-11CFE60B99E5}"/>
              </a:ext>
            </a:extLst>
          </p:cNvPr>
          <p:cNvCxnSpPr>
            <a:cxnSpLocks/>
          </p:cNvCxnSpPr>
          <p:nvPr/>
        </p:nvCxnSpPr>
        <p:spPr>
          <a:xfrm flipV="1">
            <a:off x="5102592" y="1471062"/>
            <a:ext cx="808524" cy="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9F0235-CB4B-4BFA-A6D1-BBE45F9CD6FC}"/>
              </a:ext>
            </a:extLst>
          </p:cNvPr>
          <p:cNvCxnSpPr>
            <a:cxnSpLocks/>
          </p:cNvCxnSpPr>
          <p:nvPr/>
        </p:nvCxnSpPr>
        <p:spPr>
          <a:xfrm>
            <a:off x="7848603" y="1779070"/>
            <a:ext cx="0" cy="48126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AA0FBC-4CB0-4806-96E9-A494C2AEEA51}"/>
              </a:ext>
            </a:extLst>
          </p:cNvPr>
          <p:cNvCxnSpPr>
            <a:cxnSpLocks/>
          </p:cNvCxnSpPr>
          <p:nvPr/>
        </p:nvCxnSpPr>
        <p:spPr>
          <a:xfrm flipH="1">
            <a:off x="7862241" y="3059226"/>
            <a:ext cx="11230" cy="58232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0D25B6-8E9A-4994-9E43-08B93F79C0B3}"/>
              </a:ext>
            </a:extLst>
          </p:cNvPr>
          <p:cNvCxnSpPr>
            <a:cxnSpLocks/>
          </p:cNvCxnSpPr>
          <p:nvPr/>
        </p:nvCxnSpPr>
        <p:spPr>
          <a:xfrm>
            <a:off x="7896734" y="4459707"/>
            <a:ext cx="0" cy="53580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B4ACEC6-BA45-4CEC-94D2-0E39EEB3FC8B}"/>
              </a:ext>
            </a:extLst>
          </p:cNvPr>
          <p:cNvSpPr/>
          <p:nvPr/>
        </p:nvSpPr>
        <p:spPr>
          <a:xfrm>
            <a:off x="6274871" y="5046805"/>
            <a:ext cx="2935706" cy="535804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b="1" dirty="0">
                <a:solidFill>
                  <a:schemeClr val="tx1"/>
                </a:solidFill>
              </a:rPr>
              <a:t>SQLite</a:t>
            </a:r>
            <a:r>
              <a:rPr lang="en-IN" b="1" dirty="0"/>
              <a:t> </a:t>
            </a:r>
            <a:r>
              <a:rPr lang="en-IN" b="1" dirty="0">
                <a:solidFill>
                  <a:schemeClr val="tx1"/>
                </a:solidFill>
              </a:rPr>
              <a:t>DB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BB7BD7-44FF-4D89-9E3B-EBBAF86EBC9D}"/>
              </a:ext>
            </a:extLst>
          </p:cNvPr>
          <p:cNvSpPr/>
          <p:nvPr/>
        </p:nvSpPr>
        <p:spPr>
          <a:xfrm>
            <a:off x="3932322" y="190322"/>
            <a:ext cx="3810402" cy="5415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Architecture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8C885F-7F61-4063-861A-F63682F9E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3" y="3519556"/>
            <a:ext cx="2342341" cy="8047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4341C8-6FC2-4C5E-8D4C-B79E0A79F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23" y="4621012"/>
            <a:ext cx="1931717" cy="5358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6B879B-9518-4C41-B846-943580552DD7}"/>
              </a:ext>
            </a:extLst>
          </p:cNvPr>
          <p:cNvSpPr txBox="1"/>
          <p:nvPr/>
        </p:nvSpPr>
        <p:spPr>
          <a:xfrm>
            <a:off x="2579984" y="3737255"/>
            <a:ext cx="225231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Authenticated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4581AF-4E8F-4F24-8397-F7747030BBC6}"/>
              </a:ext>
            </a:extLst>
          </p:cNvPr>
          <p:cNvSpPr txBox="1"/>
          <p:nvPr/>
        </p:nvSpPr>
        <p:spPr>
          <a:xfrm>
            <a:off x="2441940" y="4787485"/>
            <a:ext cx="225231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Not Authenticated</a:t>
            </a:r>
          </a:p>
        </p:txBody>
      </p:sp>
    </p:spTree>
    <p:extLst>
      <p:ext uri="{BB962C8B-B14F-4D97-AF65-F5344CB8AC3E}">
        <p14:creationId xmlns:p14="http://schemas.microsoft.com/office/powerpoint/2010/main" val="81868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F54A3E-2441-4DEC-8B35-58A64E88367E}"/>
              </a:ext>
            </a:extLst>
          </p:cNvPr>
          <p:cNvSpPr txBox="1"/>
          <p:nvPr/>
        </p:nvSpPr>
        <p:spPr>
          <a:xfrm>
            <a:off x="1260666" y="1751798"/>
            <a:ext cx="46825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Installation commands: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git clone &lt;repo-</a:t>
            </a:r>
            <a:r>
              <a:rPr lang="en-IN" dirty="0" err="1"/>
              <a:t>url</a:t>
            </a:r>
            <a:r>
              <a:rPr lang="en-IN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cd project-name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-m </a:t>
            </a:r>
            <a:r>
              <a:rPr lang="en-IN" dirty="0" err="1"/>
              <a:t>venv</a:t>
            </a:r>
            <a:r>
              <a:rPr lang="en-IN" dirty="0"/>
              <a:t> </a:t>
            </a:r>
            <a:r>
              <a:rPr lang="en-IN" dirty="0" err="1"/>
              <a:t>venv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source </a:t>
            </a:r>
            <a:r>
              <a:rPr lang="en-IN" dirty="0" err="1"/>
              <a:t>venv</a:t>
            </a:r>
            <a:r>
              <a:rPr lang="en-IN" dirty="0"/>
              <a:t>/bin/activate   ( mac/</a:t>
            </a:r>
            <a:r>
              <a:rPr lang="en-IN" dirty="0" err="1"/>
              <a:t>linux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venv</a:t>
            </a:r>
            <a:r>
              <a:rPr lang="en-IN" dirty="0"/>
              <a:t>\Scripts\activate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 install -r requirements.txt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uvicorn</a:t>
            </a:r>
            <a:r>
              <a:rPr lang="en-US" dirty="0"/>
              <a:t> </a:t>
            </a:r>
            <a:r>
              <a:rPr lang="en-US" dirty="0" err="1"/>
              <a:t>app.main:app</a:t>
            </a:r>
            <a:r>
              <a:rPr lang="en-US" dirty="0"/>
              <a:t> --reload</a:t>
            </a:r>
          </a:p>
          <a:p>
            <a:endParaRPr lang="en-US" dirty="0"/>
          </a:p>
          <a:p>
            <a:r>
              <a:rPr lang="en-IN" b="1" dirty="0"/>
              <a:t>API Docs available 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Swagger UI: </a:t>
            </a:r>
            <a:r>
              <a:rPr lang="en-IN" b="1" dirty="0"/>
              <a:t>http://localhost:8000/docs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AB0856-5C2C-468F-BB4E-7BFEB9795FFD}"/>
              </a:ext>
            </a:extLst>
          </p:cNvPr>
          <p:cNvSpPr/>
          <p:nvPr/>
        </p:nvSpPr>
        <p:spPr>
          <a:xfrm>
            <a:off x="3921292" y="440223"/>
            <a:ext cx="3810402" cy="5415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Project Setup &amp; Installation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E14039-86B6-4F32-8ACB-8E39E4BE5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701" y="1677150"/>
            <a:ext cx="5004520" cy="20598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8C10AE-5E64-48E3-9A60-5C68D407CA50}"/>
              </a:ext>
            </a:extLst>
          </p:cNvPr>
          <p:cNvCxnSpPr>
            <a:cxnSpLocks/>
          </p:cNvCxnSpPr>
          <p:nvPr/>
        </p:nvCxnSpPr>
        <p:spPr>
          <a:xfrm flipV="1">
            <a:off x="4976261" y="3503596"/>
            <a:ext cx="1876926" cy="6641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053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D27E7-3384-427F-84DE-FB2ABA70FAE2}"/>
              </a:ext>
            </a:extLst>
          </p:cNvPr>
          <p:cNvSpPr txBox="1"/>
          <p:nvPr/>
        </p:nvSpPr>
        <p:spPr>
          <a:xfrm>
            <a:off x="488482" y="96253"/>
            <a:ext cx="53155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Database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Database auto-creates tables on first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Default customer seed runs automatically via lifespan.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Admin account auto-generated.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D7955-A742-4C19-B2A4-BAD979D63B84}"/>
              </a:ext>
            </a:extLst>
          </p:cNvPr>
          <p:cNvSpPr txBox="1"/>
          <p:nvPr/>
        </p:nvSpPr>
        <p:spPr>
          <a:xfrm>
            <a:off x="6991149" y="0"/>
            <a:ext cx="5467149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>
                <a:solidFill>
                  <a:schemeClr val="accent5"/>
                </a:solidFill>
              </a:rPr>
            </a:br>
            <a:r>
              <a:rPr lang="en-IN" dirty="0">
                <a:solidFill>
                  <a:schemeClr val="accent5"/>
                </a:solidFill>
              </a:rPr>
              <a:t>4. Create account:</a:t>
            </a:r>
            <a:br>
              <a:rPr lang="en-IN" dirty="0"/>
            </a:br>
            <a:r>
              <a:rPr lang="en-US" dirty="0"/>
              <a:t>POST /accounts/</a:t>
            </a:r>
          </a:p>
          <a:p>
            <a:r>
              <a:rPr lang="en-US" dirty="0"/>
              <a:t>Authorization: Bearer &lt;token&gt;</a:t>
            </a:r>
          </a:p>
          <a:p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customer_id</a:t>
            </a:r>
            <a:r>
              <a:rPr lang="en-US" dirty="0"/>
              <a:t>": 5,</a:t>
            </a:r>
          </a:p>
          <a:p>
            <a:r>
              <a:rPr lang="en-US" dirty="0"/>
              <a:t>  "</a:t>
            </a:r>
            <a:r>
              <a:rPr lang="en-US" dirty="0" err="1"/>
              <a:t>initial_deposit</a:t>
            </a:r>
            <a:r>
              <a:rPr lang="en-US" dirty="0"/>
              <a:t>": 500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IN" dirty="0">
                <a:solidFill>
                  <a:schemeClr val="accent5"/>
                </a:solidFill>
              </a:rPr>
              <a:t>5. Transfer Money:</a:t>
            </a:r>
          </a:p>
          <a:p>
            <a:r>
              <a:rPr lang="en-US" dirty="0"/>
              <a:t>POST /transfers/</a:t>
            </a:r>
          </a:p>
          <a:p>
            <a:r>
              <a:rPr lang="en-US" dirty="0"/>
              <a:t>Authorization: Bearer &lt;token&gt;</a:t>
            </a:r>
          </a:p>
          <a:p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from_account_id</a:t>
            </a:r>
            <a:r>
              <a:rPr lang="en-US" dirty="0"/>
              <a:t>": 1,</a:t>
            </a:r>
          </a:p>
          <a:p>
            <a:r>
              <a:rPr lang="en-US" dirty="0"/>
              <a:t>  "</a:t>
            </a:r>
            <a:r>
              <a:rPr lang="en-US" dirty="0" err="1"/>
              <a:t>to_account_id</a:t>
            </a:r>
            <a:r>
              <a:rPr lang="en-US" dirty="0"/>
              <a:t>": 2,</a:t>
            </a:r>
          </a:p>
          <a:p>
            <a:r>
              <a:rPr lang="en-US" dirty="0"/>
              <a:t>  "amount": 200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6. Transfer History</a:t>
            </a:r>
          </a:p>
          <a:p>
            <a:r>
              <a:rPr lang="en-US" dirty="0"/>
              <a:t>GET /accounts/{id}/transfers</a:t>
            </a:r>
          </a:p>
          <a:p>
            <a:r>
              <a:rPr lang="en-US" dirty="0"/>
              <a:t>Authorization: Bearer &lt;token&gt;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6F058E-02C6-4BB2-A5CA-4913DC99D4F9}"/>
              </a:ext>
            </a:extLst>
          </p:cNvPr>
          <p:cNvSpPr txBox="1"/>
          <p:nvPr/>
        </p:nvSpPr>
        <p:spPr>
          <a:xfrm>
            <a:off x="861461" y="1655545"/>
            <a:ext cx="546714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5"/>
                </a:solidFill>
              </a:rPr>
              <a:t>1. Customers:</a:t>
            </a:r>
          </a:p>
          <a:p>
            <a:r>
              <a:rPr lang="en-US" dirty="0"/>
              <a:t>POST /customers/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"name": "Alice",</a:t>
            </a:r>
          </a:p>
          <a:p>
            <a:r>
              <a:rPr lang="en-US" dirty="0"/>
              <a:t>  "</a:t>
            </a:r>
            <a:r>
              <a:rPr lang="en-US" dirty="0" err="1"/>
              <a:t>phone_number</a:t>
            </a:r>
            <a:r>
              <a:rPr lang="en-US" dirty="0"/>
              <a:t>": "9991113333",</a:t>
            </a:r>
          </a:p>
          <a:p>
            <a:r>
              <a:rPr lang="en-US" dirty="0"/>
              <a:t>  "pin": "1234"</a:t>
            </a:r>
          </a:p>
          <a:p>
            <a:r>
              <a:rPr lang="en-US" dirty="0"/>
              <a:t>}</a:t>
            </a:r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chemeClr val="accent5"/>
                </a:solidFill>
              </a:rPr>
              <a:t>2. Login Customer (returns JWT)</a:t>
            </a:r>
          </a:p>
          <a:p>
            <a:r>
              <a:rPr lang="en-US" dirty="0"/>
              <a:t>POST /customer/auth/login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phone_number</a:t>
            </a:r>
            <a:r>
              <a:rPr lang="en-US" dirty="0"/>
              <a:t>": "9991113333",</a:t>
            </a:r>
          </a:p>
          <a:p>
            <a:r>
              <a:rPr lang="en-US" dirty="0"/>
              <a:t>  "pin": "1234"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IN" dirty="0">
                <a:solidFill>
                  <a:schemeClr val="accent5"/>
                </a:solidFill>
              </a:rPr>
              <a:t>3. Balance</a:t>
            </a:r>
            <a:br>
              <a:rPr lang="en-IN" dirty="0"/>
            </a:br>
            <a:r>
              <a:rPr lang="en-US" dirty="0"/>
              <a:t>GET /accounts/{id}/balance</a:t>
            </a:r>
          </a:p>
          <a:p>
            <a:r>
              <a:rPr lang="en-US" dirty="0"/>
              <a:t>Authorization: Bearer &lt;token&gt;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495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524E04-6545-4584-BEB9-C050193A2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530" y="724739"/>
            <a:ext cx="5731098" cy="2067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91DBF3-DA38-491F-BD0B-E73B4DF20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57" y="123737"/>
            <a:ext cx="6096000" cy="2668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148275-4CD2-4827-9B16-3A51186BA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02" y="3035080"/>
            <a:ext cx="6421726" cy="24638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85836D-B182-473F-BF9E-9F00778BD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885" y="5741842"/>
            <a:ext cx="7177743" cy="99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1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B71464-7B67-468C-9E61-BBE8E0E89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462" y="0"/>
            <a:ext cx="5088538" cy="22100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B15AFA-4C6A-4602-9963-7D8712643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681" y="3072865"/>
            <a:ext cx="3087587" cy="30231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8C57A4-3C8C-4D49-BAE7-73589441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596058"/>
              </p:ext>
            </p:extLst>
          </p:nvPr>
        </p:nvGraphicFramePr>
        <p:xfrm>
          <a:off x="598573" y="2739778"/>
          <a:ext cx="7717654" cy="3882733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356383">
                  <a:extLst>
                    <a:ext uri="{9D8B030D-6E8A-4147-A177-3AD203B41FA5}">
                      <a16:colId xmlns:a16="http://schemas.microsoft.com/office/drawing/2014/main" val="739369739"/>
                    </a:ext>
                  </a:extLst>
                </a:gridCol>
                <a:gridCol w="5361271">
                  <a:extLst>
                    <a:ext uri="{9D8B030D-6E8A-4147-A177-3AD203B41FA5}">
                      <a16:colId xmlns:a16="http://schemas.microsoft.com/office/drawing/2014/main" val="2560602690"/>
                    </a:ext>
                  </a:extLst>
                </a:gridCol>
              </a:tblGrid>
              <a:tr h="221796">
                <a:tc>
                  <a:txBody>
                    <a:bodyPr/>
                    <a:lstStyle/>
                    <a:p>
                      <a:r>
                        <a:rPr lang="en-IN" sz="1100" b="1"/>
                        <a:t>Test File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IN" sz="1100" b="1" dirty="0"/>
                        <a:t>Purpose 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538888459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IN" sz="1100" b="0"/>
                        <a:t>conftest.py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Global fixtures for DB session and TestClient setup.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1623763441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IN" sz="1100" b="0"/>
                        <a:t>factories.py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Helper functions to quickly create sample customers/accounts for tests.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3699735548"/>
                  </a:ext>
                </a:extLst>
              </a:tr>
              <a:tr h="554491">
                <a:tc>
                  <a:txBody>
                    <a:bodyPr/>
                    <a:lstStyle/>
                    <a:p>
                      <a:r>
                        <a:rPr lang="en-IN" sz="1100" b="0"/>
                        <a:t>test_accounts.py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Validates account creation, balance check, update, delete &amp; transfer history.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3102307558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IN" sz="1100" b="0"/>
                        <a:t>test_auth_jwt.py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Tests JWT authentication and role-based authorization behavior.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3963122988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IN" sz="1100" b="0"/>
                        <a:t>test_customer_auth.py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Ensures customer registration and PIN login workflows behave correctly.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54057775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IN" sz="1100" b="0"/>
                        <a:t>test_customers.py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Tests customer CRUD basics like creating multiple customers.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1937073177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IN" sz="1100" b="0"/>
                        <a:t>test_permission.py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Verifies RBAC rules (who can create/delete/access accounts).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65289796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IN" sz="1100" b="0"/>
                        <a:t>test_transfers_invalid.py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Covers invalid transfer scenarios (same account, insufficient funds, invalid IDs).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2345937993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r>
                        <a:rPr lang="en-IN" sz="1100" b="0" dirty="0"/>
                        <a:t>test_transfers.py</a:t>
                      </a:r>
                    </a:p>
                  </a:txBody>
                  <a:tcPr marL="55449" marR="55449" marT="27725" marB="27725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Tests successful transfers and transfer history after transactions.</a:t>
                      </a:r>
                    </a:p>
                  </a:txBody>
                  <a:tcPr marL="55449" marR="55449" marT="27725" marB="27725" anchor="ctr"/>
                </a:tc>
                <a:extLst>
                  <a:ext uri="{0D108BD9-81ED-4DB2-BD59-A6C34878D82A}">
                    <a16:rowId xmlns:a16="http://schemas.microsoft.com/office/drawing/2014/main" val="40910955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33C0693-9A74-4D74-9E43-435BEC2E012E}"/>
              </a:ext>
            </a:extLst>
          </p:cNvPr>
          <p:cNvSpPr txBox="1"/>
          <p:nvPr/>
        </p:nvSpPr>
        <p:spPr>
          <a:xfrm>
            <a:off x="1143000" y="781872"/>
            <a:ext cx="3900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Run tests: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pytest</a:t>
            </a:r>
            <a:r>
              <a:rPr lang="en-IN" dirty="0"/>
              <a:t> -q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AB2EA8-1F35-4B67-89C7-AF8442EEB732}"/>
              </a:ext>
            </a:extLst>
          </p:cNvPr>
          <p:cNvCxnSpPr>
            <a:cxnSpLocks/>
          </p:cNvCxnSpPr>
          <p:nvPr/>
        </p:nvCxnSpPr>
        <p:spPr>
          <a:xfrm>
            <a:off x="2975007" y="1326013"/>
            <a:ext cx="2752025" cy="6318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552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738F24-CF72-4A6F-983E-879CAA3930E5}"/>
              </a:ext>
            </a:extLst>
          </p:cNvPr>
          <p:cNvSpPr txBox="1"/>
          <p:nvPr/>
        </p:nvSpPr>
        <p:spPr>
          <a:xfrm>
            <a:off x="734728" y="1371105"/>
            <a:ext cx="47805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Before going live:</a:t>
            </a:r>
          </a:p>
          <a:p>
            <a:endParaRPr lang="en-IN" dirty="0"/>
          </a:p>
          <a:p>
            <a:r>
              <a:rPr lang="en-IN" b="1" dirty="0"/>
              <a:t>🔐 Security &amp;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Enforce JWT on all endpoints (not bypass via test mode)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rate limiting to prevent fraud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failed login lockout &amp; logging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🏛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Move from SQLite → PostgreSQL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Run via Docker + compose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automated database migrations (Alembic)</a:t>
            </a:r>
          </a:p>
          <a:p>
            <a:pPr algn="just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372DA7-9F49-4FE0-A57E-75A3FDCA4CE9}"/>
              </a:ext>
            </a:extLst>
          </p:cNvPr>
          <p:cNvSpPr/>
          <p:nvPr/>
        </p:nvSpPr>
        <p:spPr>
          <a:xfrm>
            <a:off x="2829827" y="596766"/>
            <a:ext cx="5736657" cy="58714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b="1" dirty="0"/>
          </a:p>
          <a:p>
            <a:r>
              <a:rPr lang="en-IN" b="1" dirty="0"/>
              <a:t>🏁 Production Hardening Checklist</a:t>
            </a:r>
          </a:p>
          <a:p>
            <a:pPr algn="just"/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A12C1-89B4-4B17-94C6-B595AD52FB0D}"/>
              </a:ext>
            </a:extLst>
          </p:cNvPr>
          <p:cNvSpPr txBox="1"/>
          <p:nvPr/>
        </p:nvSpPr>
        <p:spPr>
          <a:xfrm>
            <a:off x="5900286" y="1669489"/>
            <a:ext cx="427361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📈 Observability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Structured logging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Monitoring + metrics tracing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Audit logs for all transfers</a:t>
            </a:r>
          </a:p>
          <a:p>
            <a:r>
              <a:rPr lang="en-IN" b="1" dirty="0"/>
              <a:t>🌍 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Background workers for large transfer queues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Pagination for transaction history</a:t>
            </a:r>
          </a:p>
          <a:p>
            <a:r>
              <a:rPr lang="en-IN" b="1" dirty="0"/>
              <a:t>🧪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coverage reporting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concurrency &amp; load tests</a:t>
            </a:r>
          </a:p>
        </p:txBody>
      </p:sp>
    </p:spTree>
    <p:extLst>
      <p:ext uri="{BB962C8B-B14F-4D97-AF65-F5344CB8AC3E}">
        <p14:creationId xmlns:p14="http://schemas.microsoft.com/office/powerpoint/2010/main" val="25617359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1124</TotalTime>
  <Words>651</Words>
  <Application>Microsoft Office PowerPoint</Application>
  <PresentationFormat>Widescreen</PresentationFormat>
  <Paragraphs>153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Trebuchet MS</vt:lpstr>
      <vt:lpstr>Wingdings 3</vt:lpstr>
      <vt:lpstr>Facet</vt:lpstr>
      <vt:lpstr>Internal API For A Fake Financial Institution Using Python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API For A Fake Financial Institution Using Python </dc:title>
  <dc:creator>Shivani Sharma</dc:creator>
  <cp:lastModifiedBy>Shivani Sharma</cp:lastModifiedBy>
  <cp:revision>30</cp:revision>
  <dcterms:created xsi:type="dcterms:W3CDTF">2026-01-01T19:59:37Z</dcterms:created>
  <dcterms:modified xsi:type="dcterms:W3CDTF">2026-01-03T02:16:56Z</dcterms:modified>
</cp:coreProperties>
</file>